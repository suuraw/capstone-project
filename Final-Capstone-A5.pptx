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9144000" cx="16256000"/>
  <p:notesSz cx="6858000" cy="9144000"/>
  <p:embeddedFontLs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slide" Target="slides/slide16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d82446a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3d82446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1508ae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41508a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d82446a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3d82446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3d82446a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b3d82446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730a86cd13d94a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5730a86cd13d94aa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ecbd3fb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9ecbd3f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5730a86cd13d94aa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h5730a86cd13d94aa_1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10" Type="http://schemas.openxmlformats.org/officeDocument/2006/relationships/image" Target="../media/image28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963" y="0"/>
            <a:ext cx="16343924" cy="914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5"/>
          <p:cNvCxnSpPr/>
          <p:nvPr/>
        </p:nvCxnSpPr>
        <p:spPr>
          <a:xfrm>
            <a:off x="1515250" y="1004675"/>
            <a:ext cx="5566800" cy="0"/>
          </a:xfrm>
          <a:prstGeom prst="straightConnector1">
            <a:avLst/>
          </a:prstGeom>
          <a:noFill/>
          <a:ln cap="flat" cmpd="sng" w="2286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4775" y="4920925"/>
            <a:ext cx="933125" cy="3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8994775" y="4809862"/>
            <a:ext cx="102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8338" y="1415300"/>
            <a:ext cx="7649275" cy="55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47600" y="4517350"/>
            <a:ext cx="57875" cy="20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1625600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48850" y="6556700"/>
            <a:ext cx="3524025" cy="625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722450" y="1031176"/>
            <a:ext cx="856500" cy="426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660400" y="7663259"/>
            <a:ext cx="14935200" cy="921900"/>
          </a:xfrm>
          <a:prstGeom prst="roundRect">
            <a:avLst>
              <a:gd fmla="val 8265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13398500" y="558800"/>
            <a:ext cx="2197200" cy="381300"/>
          </a:xfrm>
          <a:prstGeom prst="roundRect">
            <a:avLst>
              <a:gd fmla="val 50000" name="adj"/>
            </a:avLst>
          </a:prstGeom>
          <a:solidFill>
            <a:srgbClr val="F2F5F0"/>
          </a:solidFill>
          <a:ln cap="flat" cmpd="sng" w="12700">
            <a:solidFill>
              <a:srgbClr val="D2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604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6830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7056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97282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27508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60400" y="1156889"/>
            <a:ext cx="863700" cy="507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604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604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604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34925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6830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6830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36830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5151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7056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7056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7056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95377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97282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97282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97282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25603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27508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27508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27508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55829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8890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9116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9342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99568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129794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3601700" y="635000"/>
            <a:ext cx="191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TalentXcel Solutions</a:t>
            </a:r>
            <a:endParaRPr sz="1900"/>
          </a:p>
        </p:txBody>
      </p:sp>
      <p:sp>
        <p:nvSpPr>
          <p:cNvPr id="158" name="Google Shape;158;p19"/>
          <p:cNvSpPr txBox="1"/>
          <p:nvPr/>
        </p:nvSpPr>
        <p:spPr>
          <a:xfrm>
            <a:off x="-381000" y="7866459"/>
            <a:ext cx="17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five queries convert raw offer data into a prioritized action list — who to trust, who to chase, what to offer, and where to recruit — breaking the expensive hire-then-lose-the-candidate cycle.</a:t>
            </a:r>
            <a:endParaRPr sz="1900"/>
          </a:p>
        </p:txBody>
      </p:sp>
      <p:sp>
        <p:nvSpPr>
          <p:cNvPr id="159" name="Google Shape;159;p19"/>
          <p:cNvSpPr txBox="1"/>
          <p:nvPr/>
        </p:nvSpPr>
        <p:spPr>
          <a:xfrm>
            <a:off x="660400" y="558800"/>
            <a:ext cx="1370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Data to Decisions: Five Strategic SQL Queries</a:t>
            </a:r>
            <a:endParaRPr sz="1900"/>
          </a:p>
        </p:txBody>
      </p:sp>
      <p:sp>
        <p:nvSpPr>
          <p:cNvPr id="160" name="Google Shape;160;p19"/>
          <p:cNvSpPr txBox="1"/>
          <p:nvPr/>
        </p:nvSpPr>
        <p:spPr>
          <a:xfrm>
            <a:off x="660400" y="1334689"/>
            <a:ext cx="1304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Turning offer-acceptance data into a prioritized action list for recruiters</a:t>
            </a:r>
            <a:endParaRPr sz="1900"/>
          </a:p>
        </p:txBody>
      </p:sp>
      <p:sp>
        <p:nvSpPr>
          <p:cNvPr id="161" name="Google Shape;161;p19"/>
          <p:cNvSpPr txBox="1"/>
          <p:nvPr/>
        </p:nvSpPr>
        <p:spPr>
          <a:xfrm>
            <a:off x="889000" y="2763440"/>
            <a:ext cx="25527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Highest-intent candidates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(&lt;30 days + relocation-ready); prioritize onboarding, reduce follow-up overhead.</a:t>
            </a:r>
            <a:endParaRPr sz="1900"/>
          </a:p>
        </p:txBody>
      </p:sp>
      <p:sp>
        <p:nvSpPr>
          <p:cNvPr id="162" name="Google Shape;162;p19"/>
          <p:cNvSpPr txBox="1"/>
          <p:nvPr/>
        </p:nvSpPr>
        <p:spPr>
          <a:xfrm>
            <a:off x="3911600" y="2763440"/>
            <a:ext cx="2552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Flags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at-risk offers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stalling past 10 days; enables early intervention before slots go empty.</a:t>
            </a:r>
            <a:endParaRPr sz="1900"/>
          </a:p>
        </p:txBody>
      </p:sp>
      <p:sp>
        <p:nvSpPr>
          <p:cNvPr id="163" name="Google Shape;163;p19"/>
          <p:cNvSpPr txBox="1"/>
          <p:nvPr/>
        </p:nvSpPr>
        <p:spPr>
          <a:xfrm>
            <a:off x="6934200" y="2763440"/>
            <a:ext cx="2552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Quantifies whether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higher pay moves acceptance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; right-sizes future offers effectively.</a:t>
            </a:r>
            <a:endParaRPr sz="1900"/>
          </a:p>
        </p:txBody>
      </p:sp>
      <p:sp>
        <p:nvSpPr>
          <p:cNvPr id="164" name="Google Shape;164;p19"/>
          <p:cNvSpPr txBox="1"/>
          <p:nvPr/>
        </p:nvSpPr>
        <p:spPr>
          <a:xfrm>
            <a:off x="9956800" y="2763440"/>
            <a:ext cx="25527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Hike + fast accept + relocation + bonus =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gold-standard package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; gives recruiters a repeatable template.</a:t>
            </a:r>
            <a:endParaRPr sz="1900"/>
          </a:p>
        </p:txBody>
      </p:sp>
      <p:sp>
        <p:nvSpPr>
          <p:cNvPr id="165" name="Google Shape;165;p19"/>
          <p:cNvSpPr txBox="1"/>
          <p:nvPr/>
        </p:nvSpPr>
        <p:spPr>
          <a:xfrm>
            <a:off x="12979400" y="2763440"/>
            <a:ext cx="2552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Joined vs. declined by channel;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redirects budget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to high-conversion sourcing channels.</a:t>
            </a:r>
            <a:endParaRPr sz="1900"/>
          </a:p>
        </p:txBody>
      </p:sp>
      <p:sp>
        <p:nvSpPr>
          <p:cNvPr id="166" name="Google Shape;166;p19"/>
          <p:cNvSpPr txBox="1"/>
          <p:nvPr/>
        </p:nvSpPr>
        <p:spPr>
          <a:xfrm>
            <a:off x="6985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900"/>
          </a:p>
        </p:txBody>
      </p:sp>
      <p:sp>
        <p:nvSpPr>
          <p:cNvPr id="167" name="Google Shape;167;p19"/>
          <p:cNvSpPr txBox="1"/>
          <p:nvPr/>
        </p:nvSpPr>
        <p:spPr>
          <a:xfrm>
            <a:off x="1346200" y="2134789"/>
            <a:ext cx="2200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Fast-Accepting Relocators</a:t>
            </a:r>
            <a:endParaRPr sz="1900"/>
          </a:p>
        </p:txBody>
      </p:sp>
      <p:sp>
        <p:nvSpPr>
          <p:cNvPr id="168" name="Google Shape;168;p19"/>
          <p:cNvSpPr txBox="1"/>
          <p:nvPr/>
        </p:nvSpPr>
        <p:spPr>
          <a:xfrm>
            <a:off x="37211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900"/>
          </a:p>
        </p:txBody>
      </p:sp>
      <p:sp>
        <p:nvSpPr>
          <p:cNvPr id="169" name="Google Shape;169;p19"/>
          <p:cNvSpPr txBox="1"/>
          <p:nvPr/>
        </p:nvSpPr>
        <p:spPr>
          <a:xfrm>
            <a:off x="4368800" y="2134789"/>
            <a:ext cx="2200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Confirmed vs. Slow Deciders</a:t>
            </a:r>
            <a:endParaRPr sz="1900"/>
          </a:p>
        </p:txBody>
      </p:sp>
      <p:sp>
        <p:nvSpPr>
          <p:cNvPr id="170" name="Google Shape;170;p19"/>
          <p:cNvSpPr txBox="1"/>
          <p:nvPr/>
        </p:nvSpPr>
        <p:spPr>
          <a:xfrm>
            <a:off x="67437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900"/>
          </a:p>
        </p:txBody>
      </p:sp>
      <p:sp>
        <p:nvSpPr>
          <p:cNvPr id="171" name="Google Shape;171;p19"/>
          <p:cNvSpPr txBox="1"/>
          <p:nvPr/>
        </p:nvSpPr>
        <p:spPr>
          <a:xfrm>
            <a:off x="7391400" y="2134789"/>
            <a:ext cx="22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25%+ CTC Hike Impact</a:t>
            </a:r>
            <a:endParaRPr sz="1900"/>
          </a:p>
        </p:txBody>
      </p:sp>
      <p:sp>
        <p:nvSpPr>
          <p:cNvPr id="172" name="Google Shape;172;p19"/>
          <p:cNvSpPr txBox="1"/>
          <p:nvPr/>
        </p:nvSpPr>
        <p:spPr>
          <a:xfrm>
            <a:off x="97663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900"/>
          </a:p>
        </p:txBody>
      </p:sp>
      <p:sp>
        <p:nvSpPr>
          <p:cNvPr id="173" name="Google Shape;173;p19"/>
          <p:cNvSpPr txBox="1"/>
          <p:nvPr/>
        </p:nvSpPr>
        <p:spPr>
          <a:xfrm>
            <a:off x="10414000" y="2134789"/>
            <a:ext cx="22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Ideal Offer Combo</a:t>
            </a:r>
            <a:endParaRPr sz="1900"/>
          </a:p>
        </p:txBody>
      </p:sp>
      <p:sp>
        <p:nvSpPr>
          <p:cNvPr id="174" name="Google Shape;174;p19"/>
          <p:cNvSpPr txBox="1"/>
          <p:nvPr/>
        </p:nvSpPr>
        <p:spPr>
          <a:xfrm>
            <a:off x="127889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900"/>
          </a:p>
        </p:txBody>
      </p:sp>
      <p:sp>
        <p:nvSpPr>
          <p:cNvPr id="175" name="Google Shape;175;p19"/>
          <p:cNvSpPr txBox="1"/>
          <p:nvPr/>
        </p:nvSpPr>
        <p:spPr>
          <a:xfrm>
            <a:off x="13436600" y="2134789"/>
            <a:ext cx="2200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 Conversion Rates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861800" y="1296420"/>
            <a:ext cx="685800" cy="381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5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5512851" cy="883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850" y="1705175"/>
            <a:ext cx="15016299" cy="74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2800" y="8942700"/>
            <a:ext cx="4291675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800" y="1705174"/>
            <a:ext cx="1076325" cy="74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05043" y="8815718"/>
            <a:ext cx="462775" cy="1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/>
          <p:nvPr/>
        </p:nvSpPr>
        <p:spPr>
          <a:xfrm>
            <a:off x="711200" y="1460500"/>
            <a:ext cx="4775100" cy="341010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5740400" y="1460500"/>
            <a:ext cx="4775100" cy="341010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10769600" y="1460500"/>
            <a:ext cx="4775100" cy="341010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711200" y="5124449"/>
            <a:ext cx="4775100" cy="341010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740400" y="5124449"/>
            <a:ext cx="4775100" cy="341010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10769600" y="5124449"/>
            <a:ext cx="4775100" cy="341010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4345780" y="1835149"/>
            <a:ext cx="848400" cy="291900"/>
          </a:xfrm>
          <a:prstGeom prst="roundRect">
            <a:avLst>
              <a:gd fmla="val 50000" name="adj"/>
            </a:avLst>
          </a:prstGeom>
          <a:solidFill>
            <a:srgbClr val="F2F8EB"/>
          </a:solidFill>
          <a:ln cap="flat" cmpd="sng" w="12700">
            <a:solidFill>
              <a:srgbClr val="D4E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8928100" y="1835149"/>
            <a:ext cx="1295700" cy="291900"/>
          </a:xfrm>
          <a:prstGeom prst="roundRect">
            <a:avLst>
              <a:gd fmla="val 50000" name="adj"/>
            </a:avLst>
          </a:prstGeom>
          <a:solidFill>
            <a:srgbClr val="F2F8EB"/>
          </a:solidFill>
          <a:ln cap="flat" cmpd="sng" w="12700">
            <a:solidFill>
              <a:srgbClr val="D4E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13240940" y="1835149"/>
            <a:ext cx="2011500" cy="291900"/>
          </a:xfrm>
          <a:prstGeom prst="roundRect">
            <a:avLst>
              <a:gd fmla="val 50000" name="adj"/>
            </a:avLst>
          </a:prstGeom>
          <a:solidFill>
            <a:srgbClr val="F2F8EB"/>
          </a:solidFill>
          <a:ln cap="flat" cmpd="sng" w="12700">
            <a:solidFill>
              <a:srgbClr val="D4E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3709589" y="5499100"/>
            <a:ext cx="1484700" cy="291900"/>
          </a:xfrm>
          <a:prstGeom prst="roundRect">
            <a:avLst>
              <a:gd fmla="val 50000" name="adj"/>
            </a:avLst>
          </a:prstGeom>
          <a:solidFill>
            <a:srgbClr val="F2F8EB"/>
          </a:solidFill>
          <a:ln cap="flat" cmpd="sng" w="12700">
            <a:solidFill>
              <a:srgbClr val="D4E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8519120" y="5499100"/>
            <a:ext cx="1704300" cy="291900"/>
          </a:xfrm>
          <a:prstGeom prst="roundRect">
            <a:avLst>
              <a:gd fmla="val 50000" name="adj"/>
            </a:avLst>
          </a:prstGeom>
          <a:solidFill>
            <a:srgbClr val="F2F8EB"/>
          </a:solidFill>
          <a:ln cap="flat" cmpd="sng" w="12700">
            <a:solidFill>
              <a:srgbClr val="D4E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13135569" y="5499100"/>
            <a:ext cx="2117100" cy="291900"/>
          </a:xfrm>
          <a:prstGeom prst="roundRect">
            <a:avLst>
              <a:gd fmla="val 50000" name="adj"/>
            </a:avLst>
          </a:prstGeom>
          <a:solidFill>
            <a:srgbClr val="F2F8EB"/>
          </a:solidFill>
          <a:ln cap="flat" cmpd="sng" w="12700">
            <a:solidFill>
              <a:srgbClr val="D4E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300" y="1752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2500" y="1752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1700" y="1752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3300" y="541654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2500" y="541654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1700" y="541654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7600" y="1866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4100" y="1866900"/>
            <a:ext cx="254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63300" y="1866900"/>
            <a:ext cx="254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3000" y="5530849"/>
            <a:ext cx="177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46800" y="553084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76000" y="553084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711200" y="609600"/>
            <a:ext cx="108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Selection: Six Algorithms Evaluated</a:t>
            </a:r>
            <a:endParaRPr sz="1900"/>
          </a:p>
        </p:txBody>
      </p:sp>
      <p:sp>
        <p:nvSpPr>
          <p:cNvPr id="235" name="Google Shape;235;p25"/>
          <p:cNvSpPr txBox="1"/>
          <p:nvPr/>
        </p:nvSpPr>
        <p:spPr>
          <a:xfrm>
            <a:off x="1003300" y="2413000"/>
            <a:ext cx="55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endParaRPr sz="1900"/>
          </a:p>
        </p:txBody>
      </p:sp>
      <p:sp>
        <p:nvSpPr>
          <p:cNvPr id="236" name="Google Shape;236;p25"/>
          <p:cNvSpPr txBox="1"/>
          <p:nvPr/>
        </p:nvSpPr>
        <p:spPr>
          <a:xfrm>
            <a:off x="1003300" y="2816224"/>
            <a:ext cx="4317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Predicts Yes or No by drawing a simple dividing line between outcomes.</a:t>
            </a:r>
            <a:endParaRPr sz="1900"/>
          </a:p>
        </p:txBody>
      </p:sp>
      <p:sp>
        <p:nvSpPr>
          <p:cNvPr id="237" name="Google Shape;237;p25"/>
          <p:cNvSpPr txBox="1"/>
          <p:nvPr/>
        </p:nvSpPr>
        <p:spPr>
          <a:xfrm>
            <a:off x="6032500" y="2413000"/>
            <a:ext cx="55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  <a:endParaRPr sz="1900"/>
          </a:p>
        </p:txBody>
      </p:sp>
      <p:sp>
        <p:nvSpPr>
          <p:cNvPr id="238" name="Google Shape;238;p25"/>
          <p:cNvSpPr txBox="1"/>
          <p:nvPr/>
        </p:nvSpPr>
        <p:spPr>
          <a:xfrm>
            <a:off x="6032500" y="2816224"/>
            <a:ext cx="4317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Makes predictions by asking a series of Yes/No questions step by step.</a:t>
            </a:r>
            <a:endParaRPr sz="1900"/>
          </a:p>
        </p:txBody>
      </p:sp>
      <p:sp>
        <p:nvSpPr>
          <p:cNvPr id="239" name="Google Shape;239;p25"/>
          <p:cNvSpPr txBox="1"/>
          <p:nvPr/>
        </p:nvSpPr>
        <p:spPr>
          <a:xfrm>
            <a:off x="11061700" y="2413000"/>
            <a:ext cx="519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sz="1900"/>
          </a:p>
        </p:txBody>
      </p:sp>
      <p:sp>
        <p:nvSpPr>
          <p:cNvPr id="240" name="Google Shape;240;p25"/>
          <p:cNvSpPr txBox="1"/>
          <p:nvPr/>
        </p:nvSpPr>
        <p:spPr>
          <a:xfrm>
            <a:off x="11061700" y="2816224"/>
            <a:ext cx="4317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Runs hundreds of question trees together and takes the majority vote.</a:t>
            </a:r>
            <a:endParaRPr sz="1900"/>
          </a:p>
        </p:txBody>
      </p:sp>
      <p:sp>
        <p:nvSpPr>
          <p:cNvPr id="241" name="Google Shape;241;p25"/>
          <p:cNvSpPr txBox="1"/>
          <p:nvPr/>
        </p:nvSpPr>
        <p:spPr>
          <a:xfrm>
            <a:off x="1003300" y="6076949"/>
            <a:ext cx="55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Naive Bayes</a:t>
            </a:r>
            <a:endParaRPr sz="1900"/>
          </a:p>
        </p:txBody>
      </p:sp>
      <p:sp>
        <p:nvSpPr>
          <p:cNvPr id="242" name="Google Shape;242;p25"/>
          <p:cNvSpPr txBox="1"/>
          <p:nvPr/>
        </p:nvSpPr>
        <p:spPr>
          <a:xfrm>
            <a:off x="1003300" y="6480175"/>
            <a:ext cx="4317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Predicts outcome based on the probability of past similar candidate profiles.</a:t>
            </a:r>
            <a:endParaRPr sz="1900"/>
          </a:p>
        </p:txBody>
      </p:sp>
      <p:sp>
        <p:nvSpPr>
          <p:cNvPr id="243" name="Google Shape;243;p25"/>
          <p:cNvSpPr txBox="1"/>
          <p:nvPr/>
        </p:nvSpPr>
        <p:spPr>
          <a:xfrm>
            <a:off x="6032500" y="6076949"/>
            <a:ext cx="55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  <a:endParaRPr sz="1900"/>
          </a:p>
        </p:txBody>
      </p:sp>
      <p:sp>
        <p:nvSpPr>
          <p:cNvPr id="244" name="Google Shape;244;p25"/>
          <p:cNvSpPr txBox="1"/>
          <p:nvPr/>
        </p:nvSpPr>
        <p:spPr>
          <a:xfrm>
            <a:off x="6032500" y="6480175"/>
            <a:ext cx="4317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Finds the most similar past candidates and predicts based on their outcome.</a:t>
            </a:r>
            <a:endParaRPr sz="1900"/>
          </a:p>
        </p:txBody>
      </p:sp>
      <p:sp>
        <p:nvSpPr>
          <p:cNvPr id="245" name="Google Shape;245;p25"/>
          <p:cNvSpPr txBox="1"/>
          <p:nvPr/>
        </p:nvSpPr>
        <p:spPr>
          <a:xfrm>
            <a:off x="11061700" y="6076949"/>
            <a:ext cx="519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sz="1900"/>
          </a:p>
        </p:txBody>
      </p:sp>
      <p:sp>
        <p:nvSpPr>
          <p:cNvPr id="246" name="Google Shape;246;p25"/>
          <p:cNvSpPr txBox="1"/>
          <p:nvPr/>
        </p:nvSpPr>
        <p:spPr>
          <a:xfrm>
            <a:off x="11061700" y="6480175"/>
            <a:ext cx="4317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Learns from its own mistakes repeatedly, delivering the most refined prediction.</a:t>
            </a:r>
            <a:endParaRPr sz="1900"/>
          </a:p>
        </p:txBody>
      </p:sp>
      <p:sp>
        <p:nvSpPr>
          <p:cNvPr id="247" name="Google Shape;247;p25"/>
          <p:cNvSpPr txBox="1"/>
          <p:nvPr/>
        </p:nvSpPr>
        <p:spPr>
          <a:xfrm>
            <a:off x="4472780" y="1873249"/>
            <a:ext cx="72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7011"/>
                </a:solidFill>
                <a:latin typeface="Inter"/>
                <a:ea typeface="Inter"/>
                <a:cs typeface="Inter"/>
                <a:sym typeface="Inter"/>
              </a:rPr>
              <a:t>LINEAR</a:t>
            </a:r>
            <a:endParaRPr sz="1900"/>
          </a:p>
        </p:txBody>
      </p:sp>
      <p:sp>
        <p:nvSpPr>
          <p:cNvPr id="248" name="Google Shape;248;p25"/>
          <p:cNvSpPr txBox="1"/>
          <p:nvPr/>
        </p:nvSpPr>
        <p:spPr>
          <a:xfrm>
            <a:off x="9055100" y="1873249"/>
            <a:ext cx="11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7011"/>
                </a:solidFill>
                <a:latin typeface="Inter"/>
                <a:ea typeface="Inter"/>
                <a:cs typeface="Inter"/>
                <a:sym typeface="Inter"/>
              </a:rPr>
              <a:t>TREE-BASED</a:t>
            </a:r>
            <a:endParaRPr sz="1900"/>
          </a:p>
        </p:txBody>
      </p:sp>
      <p:sp>
        <p:nvSpPr>
          <p:cNvPr id="249" name="Google Shape;249;p25"/>
          <p:cNvSpPr txBox="1"/>
          <p:nvPr/>
        </p:nvSpPr>
        <p:spPr>
          <a:xfrm>
            <a:off x="13367940" y="1873249"/>
            <a:ext cx="188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7011"/>
                </a:solidFill>
                <a:latin typeface="Inter"/>
                <a:ea typeface="Inter"/>
                <a:cs typeface="Inter"/>
                <a:sym typeface="Inter"/>
              </a:rPr>
              <a:t>ENSEMBLE - BAGGING</a:t>
            </a:r>
            <a:endParaRPr sz="1900"/>
          </a:p>
        </p:txBody>
      </p:sp>
      <p:sp>
        <p:nvSpPr>
          <p:cNvPr id="250" name="Google Shape;250;p25"/>
          <p:cNvSpPr txBox="1"/>
          <p:nvPr/>
        </p:nvSpPr>
        <p:spPr>
          <a:xfrm>
            <a:off x="3836589" y="5537200"/>
            <a:ext cx="135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7011"/>
                </a:solidFill>
                <a:latin typeface="Inter"/>
                <a:ea typeface="Inter"/>
                <a:cs typeface="Inter"/>
                <a:sym typeface="Inter"/>
              </a:rPr>
              <a:t>PROBABILISTIC</a:t>
            </a:r>
            <a:endParaRPr sz="1900"/>
          </a:p>
        </p:txBody>
      </p:sp>
      <p:sp>
        <p:nvSpPr>
          <p:cNvPr id="251" name="Google Shape;251;p25"/>
          <p:cNvSpPr txBox="1"/>
          <p:nvPr/>
        </p:nvSpPr>
        <p:spPr>
          <a:xfrm>
            <a:off x="8646120" y="5537200"/>
            <a:ext cx="157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7011"/>
                </a:solidFill>
                <a:latin typeface="Inter"/>
                <a:ea typeface="Inter"/>
                <a:cs typeface="Inter"/>
                <a:sym typeface="Inter"/>
              </a:rPr>
              <a:t>DISTANCE-BASED</a:t>
            </a:r>
            <a:endParaRPr sz="1900"/>
          </a:p>
        </p:txBody>
      </p:sp>
      <p:sp>
        <p:nvSpPr>
          <p:cNvPr id="252" name="Google Shape;252;p25"/>
          <p:cNvSpPr txBox="1"/>
          <p:nvPr/>
        </p:nvSpPr>
        <p:spPr>
          <a:xfrm>
            <a:off x="13262569" y="5537200"/>
            <a:ext cx="19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7011"/>
                </a:solidFill>
                <a:latin typeface="Inter"/>
                <a:ea typeface="Inter"/>
                <a:cs typeface="Inter"/>
                <a:sym typeface="Inter"/>
              </a:rPr>
              <a:t>ENSEMBLE - BOOSTING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