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9144000" cx="16256000"/>
  <p:notesSz cx="6858000" cy="9144000"/>
  <p:embeddedFontLs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Inter-bold.fntdata"/><Relationship Id="rId10" Type="http://schemas.openxmlformats.org/officeDocument/2006/relationships/slide" Target="slides/slide5.xml"/><Relationship Id="rId21" Type="http://schemas.openxmlformats.org/officeDocument/2006/relationships/font" Target="fonts/Inter-regular.fntdata"/><Relationship Id="rId13" Type="http://schemas.openxmlformats.org/officeDocument/2006/relationships/slide" Target="slides/slide8.xml"/><Relationship Id="rId24" Type="http://schemas.openxmlformats.org/officeDocument/2006/relationships/font" Target="fonts/Inter-boldItalic.fntdata"/><Relationship Id="rId12" Type="http://schemas.openxmlformats.org/officeDocument/2006/relationships/slide" Target="slides/slide7.xml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3d82446a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3d82446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41508ae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41508ae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3d82446a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3d82446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3d82446a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b3d82446a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730a86cd13d94a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h5730a86cd13d94aa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9ecbd3fb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9ecbd3f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963" y="0"/>
            <a:ext cx="16343924" cy="914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5"/>
          <p:cNvCxnSpPr/>
          <p:nvPr/>
        </p:nvCxnSpPr>
        <p:spPr>
          <a:xfrm>
            <a:off x="1515250" y="1004675"/>
            <a:ext cx="5566800" cy="0"/>
          </a:xfrm>
          <a:prstGeom prst="straightConnector1">
            <a:avLst/>
          </a:prstGeom>
          <a:noFill/>
          <a:ln cap="flat" cmpd="sng" w="2286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4775" y="4920925"/>
            <a:ext cx="933125" cy="3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8994775" y="4809862"/>
            <a:ext cx="1023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Joined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8338" y="1415300"/>
            <a:ext cx="7649275" cy="55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47600" y="4517350"/>
            <a:ext cx="57875" cy="20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16256000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56002" cy="914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48850" y="6556700"/>
            <a:ext cx="3524025" cy="625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722450" y="1031176"/>
            <a:ext cx="856500" cy="42600"/>
          </a:xfrm>
          <a:prstGeom prst="roundRect">
            <a:avLst>
              <a:gd fmla="val 50000" name="adj"/>
            </a:avLst>
          </a:prstGeom>
          <a:solidFill>
            <a:srgbClr val="86B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660400" y="7663259"/>
            <a:ext cx="14935200" cy="921900"/>
          </a:xfrm>
          <a:prstGeom prst="roundRect">
            <a:avLst>
              <a:gd fmla="val 8265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13398500" y="558800"/>
            <a:ext cx="2197200" cy="381300"/>
          </a:xfrm>
          <a:prstGeom prst="roundRect">
            <a:avLst>
              <a:gd fmla="val 50000" name="adj"/>
            </a:avLst>
          </a:prstGeom>
          <a:solidFill>
            <a:srgbClr val="F2F5F0"/>
          </a:solidFill>
          <a:ln cap="flat" cmpd="sng" w="12700">
            <a:solidFill>
              <a:srgbClr val="D2DC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60400" y="1893489"/>
            <a:ext cx="2844900" cy="54648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683000" y="1893489"/>
            <a:ext cx="2844900" cy="54648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705600" y="1893489"/>
            <a:ext cx="2844900" cy="54648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9728200" y="1893489"/>
            <a:ext cx="2844900" cy="54648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2750800" y="1893489"/>
            <a:ext cx="2844900" cy="54648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660400" y="1156889"/>
            <a:ext cx="863700" cy="507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60400" y="734575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60400" y="189348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660400" y="1893489"/>
            <a:ext cx="50700" cy="5464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3492500" y="1893489"/>
            <a:ext cx="12900" cy="546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3683000" y="734575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683000" y="189348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3683000" y="1893489"/>
            <a:ext cx="50700" cy="5464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6515100" y="1893489"/>
            <a:ext cx="12900" cy="546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705600" y="734575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705600" y="189348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6705600" y="1893489"/>
            <a:ext cx="50700" cy="5464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9537700" y="1893489"/>
            <a:ext cx="12900" cy="546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9728200" y="734575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9728200" y="189348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9728200" y="1893489"/>
            <a:ext cx="50700" cy="5464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12560300" y="1893489"/>
            <a:ext cx="12900" cy="546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12750800" y="734575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12750800" y="1893489"/>
            <a:ext cx="2844900" cy="1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12750800" y="1893489"/>
            <a:ext cx="50700" cy="5464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15582900" y="1893489"/>
            <a:ext cx="12900" cy="546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889000" y="2207815"/>
            <a:ext cx="330300" cy="3303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3911600" y="2207815"/>
            <a:ext cx="330300" cy="3303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6934200" y="2207815"/>
            <a:ext cx="330300" cy="3303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9956800" y="2207815"/>
            <a:ext cx="330300" cy="3303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12979400" y="2207815"/>
            <a:ext cx="330300" cy="330300"/>
          </a:xfrm>
          <a:prstGeom prst="roundRect">
            <a:avLst>
              <a:gd fmla="val 50000" name="adj"/>
            </a:avLst>
          </a:prstGeom>
          <a:solidFill>
            <a:srgbClr val="8DC6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3601700" y="635000"/>
            <a:ext cx="191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TalentXcel Solutions</a:t>
            </a:r>
            <a:endParaRPr sz="1900"/>
          </a:p>
        </p:txBody>
      </p:sp>
      <p:sp>
        <p:nvSpPr>
          <p:cNvPr id="158" name="Google Shape;158;p19"/>
          <p:cNvSpPr txBox="1"/>
          <p:nvPr/>
        </p:nvSpPr>
        <p:spPr>
          <a:xfrm>
            <a:off x="-381000" y="7866459"/>
            <a:ext cx="1701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These five queries convert raw offer data into a prioritized action list — who to trust, who to chase, what to offer, and where to recruit — breaking the expensive hire-then-lose-the-candidate cycle.</a:t>
            </a:r>
            <a:endParaRPr sz="1900"/>
          </a:p>
        </p:txBody>
      </p:sp>
      <p:sp>
        <p:nvSpPr>
          <p:cNvPr id="159" name="Google Shape;159;p19"/>
          <p:cNvSpPr txBox="1"/>
          <p:nvPr/>
        </p:nvSpPr>
        <p:spPr>
          <a:xfrm>
            <a:off x="660400" y="558800"/>
            <a:ext cx="1370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From Data to Decisions: Five Strategic SQL Queries</a:t>
            </a:r>
            <a:endParaRPr sz="1900"/>
          </a:p>
        </p:txBody>
      </p:sp>
      <p:sp>
        <p:nvSpPr>
          <p:cNvPr id="160" name="Google Shape;160;p19"/>
          <p:cNvSpPr txBox="1"/>
          <p:nvPr/>
        </p:nvSpPr>
        <p:spPr>
          <a:xfrm>
            <a:off x="660400" y="1334689"/>
            <a:ext cx="1304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Turning offer-acceptance data into a prioritized action list for recruiters</a:t>
            </a:r>
            <a:endParaRPr sz="1900"/>
          </a:p>
        </p:txBody>
      </p:sp>
      <p:sp>
        <p:nvSpPr>
          <p:cNvPr id="161" name="Google Shape;161;p19"/>
          <p:cNvSpPr txBox="1"/>
          <p:nvPr/>
        </p:nvSpPr>
        <p:spPr>
          <a:xfrm>
            <a:off x="889000" y="2763440"/>
            <a:ext cx="25527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Highest-intent candidates</a:t>
            </a: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(&lt;30 days + relocation-ready); prioritize onboarding, reduce follow-up overhead.</a:t>
            </a:r>
            <a:endParaRPr sz="1900"/>
          </a:p>
        </p:txBody>
      </p:sp>
      <p:sp>
        <p:nvSpPr>
          <p:cNvPr id="162" name="Google Shape;162;p19"/>
          <p:cNvSpPr txBox="1"/>
          <p:nvPr/>
        </p:nvSpPr>
        <p:spPr>
          <a:xfrm>
            <a:off x="3911600" y="2763440"/>
            <a:ext cx="2552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Flags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at-risk offers</a:t>
            </a: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stalling past 10 days; enables early intervention before slots go empty.</a:t>
            </a:r>
            <a:endParaRPr sz="1900"/>
          </a:p>
        </p:txBody>
      </p:sp>
      <p:sp>
        <p:nvSpPr>
          <p:cNvPr id="163" name="Google Shape;163;p19"/>
          <p:cNvSpPr txBox="1"/>
          <p:nvPr/>
        </p:nvSpPr>
        <p:spPr>
          <a:xfrm>
            <a:off x="6934200" y="2763440"/>
            <a:ext cx="2552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Quantifies whether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higher pay moves acceptance</a:t>
            </a: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; right-sizes future offers effectively.</a:t>
            </a:r>
            <a:endParaRPr sz="1900"/>
          </a:p>
        </p:txBody>
      </p:sp>
      <p:sp>
        <p:nvSpPr>
          <p:cNvPr id="164" name="Google Shape;164;p19"/>
          <p:cNvSpPr txBox="1"/>
          <p:nvPr/>
        </p:nvSpPr>
        <p:spPr>
          <a:xfrm>
            <a:off x="9956800" y="2763440"/>
            <a:ext cx="25527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Hike + fast accept + relocation + bonus =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gold-standard package</a:t>
            </a: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; gives recruiters a repeatable template.</a:t>
            </a:r>
            <a:endParaRPr sz="1900"/>
          </a:p>
        </p:txBody>
      </p:sp>
      <p:sp>
        <p:nvSpPr>
          <p:cNvPr id="165" name="Google Shape;165;p19"/>
          <p:cNvSpPr txBox="1"/>
          <p:nvPr/>
        </p:nvSpPr>
        <p:spPr>
          <a:xfrm>
            <a:off x="12979400" y="2763440"/>
            <a:ext cx="2552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Joined vs. declined by channel;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redirects budget</a:t>
            </a:r>
            <a:r>
              <a:rPr b="0" i="0" lang="en-US" sz="14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to high-conversion sourcing channels.</a:t>
            </a:r>
            <a:endParaRPr sz="1900"/>
          </a:p>
        </p:txBody>
      </p:sp>
      <p:sp>
        <p:nvSpPr>
          <p:cNvPr id="166" name="Google Shape;166;p19"/>
          <p:cNvSpPr txBox="1"/>
          <p:nvPr/>
        </p:nvSpPr>
        <p:spPr>
          <a:xfrm>
            <a:off x="698500" y="2207815"/>
            <a:ext cx="711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900"/>
          </a:p>
        </p:txBody>
      </p:sp>
      <p:sp>
        <p:nvSpPr>
          <p:cNvPr id="167" name="Google Shape;167;p19"/>
          <p:cNvSpPr txBox="1"/>
          <p:nvPr/>
        </p:nvSpPr>
        <p:spPr>
          <a:xfrm>
            <a:off x="1346200" y="2134789"/>
            <a:ext cx="2200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Fast-Accepting Relocators</a:t>
            </a:r>
            <a:endParaRPr sz="1900"/>
          </a:p>
        </p:txBody>
      </p:sp>
      <p:sp>
        <p:nvSpPr>
          <p:cNvPr id="168" name="Google Shape;168;p19"/>
          <p:cNvSpPr txBox="1"/>
          <p:nvPr/>
        </p:nvSpPr>
        <p:spPr>
          <a:xfrm>
            <a:off x="3721100" y="2207815"/>
            <a:ext cx="711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900"/>
          </a:p>
        </p:txBody>
      </p:sp>
      <p:sp>
        <p:nvSpPr>
          <p:cNvPr id="169" name="Google Shape;169;p19"/>
          <p:cNvSpPr txBox="1"/>
          <p:nvPr/>
        </p:nvSpPr>
        <p:spPr>
          <a:xfrm>
            <a:off x="4368800" y="2134789"/>
            <a:ext cx="2200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Confirmed vs. Slow Deciders</a:t>
            </a:r>
            <a:endParaRPr sz="1900"/>
          </a:p>
        </p:txBody>
      </p:sp>
      <p:sp>
        <p:nvSpPr>
          <p:cNvPr id="170" name="Google Shape;170;p19"/>
          <p:cNvSpPr txBox="1"/>
          <p:nvPr/>
        </p:nvSpPr>
        <p:spPr>
          <a:xfrm>
            <a:off x="6743700" y="2207815"/>
            <a:ext cx="711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900"/>
          </a:p>
        </p:txBody>
      </p:sp>
      <p:sp>
        <p:nvSpPr>
          <p:cNvPr id="171" name="Google Shape;171;p19"/>
          <p:cNvSpPr txBox="1"/>
          <p:nvPr/>
        </p:nvSpPr>
        <p:spPr>
          <a:xfrm>
            <a:off x="7391400" y="2134789"/>
            <a:ext cx="22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25%+ CTC Hike Impact</a:t>
            </a:r>
            <a:endParaRPr sz="1900"/>
          </a:p>
        </p:txBody>
      </p:sp>
      <p:sp>
        <p:nvSpPr>
          <p:cNvPr id="172" name="Google Shape;172;p19"/>
          <p:cNvSpPr txBox="1"/>
          <p:nvPr/>
        </p:nvSpPr>
        <p:spPr>
          <a:xfrm>
            <a:off x="9766300" y="2207815"/>
            <a:ext cx="711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900"/>
          </a:p>
        </p:txBody>
      </p:sp>
      <p:sp>
        <p:nvSpPr>
          <p:cNvPr id="173" name="Google Shape;173;p19"/>
          <p:cNvSpPr txBox="1"/>
          <p:nvPr/>
        </p:nvSpPr>
        <p:spPr>
          <a:xfrm>
            <a:off x="10414000" y="2134789"/>
            <a:ext cx="22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Ideal Offer Combo</a:t>
            </a:r>
            <a:endParaRPr sz="1900"/>
          </a:p>
        </p:txBody>
      </p:sp>
      <p:sp>
        <p:nvSpPr>
          <p:cNvPr id="174" name="Google Shape;174;p19"/>
          <p:cNvSpPr txBox="1"/>
          <p:nvPr/>
        </p:nvSpPr>
        <p:spPr>
          <a:xfrm>
            <a:off x="12788900" y="2207815"/>
            <a:ext cx="711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1900"/>
          </a:p>
        </p:txBody>
      </p:sp>
      <p:sp>
        <p:nvSpPr>
          <p:cNvPr id="175" name="Google Shape;175;p19"/>
          <p:cNvSpPr txBox="1"/>
          <p:nvPr/>
        </p:nvSpPr>
        <p:spPr>
          <a:xfrm>
            <a:off x="13436600" y="2134789"/>
            <a:ext cx="2200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 Conversion Rates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6002" cy="914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/>
          <p:nvPr/>
        </p:nvSpPr>
        <p:spPr>
          <a:xfrm>
            <a:off x="861800" y="1296420"/>
            <a:ext cx="685800" cy="38100"/>
          </a:xfrm>
          <a:prstGeom prst="roundRect">
            <a:avLst>
              <a:gd fmla="val 50000" name="adj"/>
            </a:avLst>
          </a:prstGeom>
          <a:solidFill>
            <a:srgbClr val="86B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5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5512851" cy="883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850" y="1705175"/>
            <a:ext cx="15016299" cy="74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2800" y="8942700"/>
            <a:ext cx="4291675" cy="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800" y="1705174"/>
            <a:ext cx="1076325" cy="74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05043" y="8815718"/>
            <a:ext cx="462775" cy="1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